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75" r:id="rId4"/>
    <p:sldId id="274" r:id="rId5"/>
    <p:sldId id="258" r:id="rId6"/>
    <p:sldId id="262" r:id="rId7"/>
    <p:sldId id="259" r:id="rId8"/>
    <p:sldId id="260" r:id="rId9"/>
    <p:sldId id="261" r:id="rId10"/>
    <p:sldId id="266" r:id="rId11"/>
    <p:sldId id="265" r:id="rId12"/>
    <p:sldId id="263" r:id="rId13"/>
    <p:sldId id="267" r:id="rId14"/>
    <p:sldId id="276" r:id="rId15"/>
    <p:sldId id="277" r:id="rId16"/>
    <p:sldId id="279" r:id="rId17"/>
    <p:sldId id="278" r:id="rId18"/>
    <p:sldId id="264" r:id="rId19"/>
    <p:sldId id="268" r:id="rId20"/>
    <p:sldId id="280" r:id="rId21"/>
    <p:sldId id="281" r:id="rId22"/>
    <p:sldId id="271"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869990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7192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989075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6/2/2025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2999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76156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729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118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6/2/2025</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1310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6/2/2025</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1988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3503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822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6/2/2025</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01193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nature.com/articles/s41467-022-30695-9" TargetMode="External"/><Relationship Id="rId2" Type="http://schemas.openxmlformats.org/officeDocument/2006/relationships/hyperlink" Target="http://medicaldecathlon.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dirty="0"/>
              <a:t>Brain Tumor Segmentation</a:t>
            </a:r>
          </a:p>
        </p:txBody>
      </p:sp>
      <p:sp>
        <p:nvSpPr>
          <p:cNvPr id="3" name="Subtitle 2"/>
          <p:cNvSpPr>
            <a:spLocks noGrp="1"/>
          </p:cNvSpPr>
          <p:nvPr>
            <p:ph type="subTitle" idx="1"/>
          </p:nvPr>
        </p:nvSpPr>
        <p:spPr>
          <a:xfrm>
            <a:off x="1371600" y="4279489"/>
            <a:ext cx="6400800" cy="2465439"/>
          </a:xfrm>
        </p:spPr>
        <p:txBody>
          <a:bodyPr>
            <a:noAutofit/>
          </a:bodyPr>
          <a:lstStyle/>
          <a:p>
            <a:endParaRPr lang="en-US" sz="2000" dirty="0"/>
          </a:p>
          <a:p>
            <a:endParaRPr lang="ro-RO" sz="2000" dirty="0"/>
          </a:p>
          <a:p>
            <a:endParaRPr lang="ro-RO" sz="2000" dirty="0"/>
          </a:p>
          <a:p>
            <a:endParaRPr lang="ro-RO" sz="2000" dirty="0"/>
          </a:p>
          <a:p>
            <a:pPr algn="r"/>
            <a:r>
              <a:rPr lang="ro-RO" sz="2000" dirty="0"/>
              <a:t>Adrian-Valentin Ciu</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a:xfrm>
            <a:off x="1606045" y="1959619"/>
            <a:ext cx="5937755" cy="4087220"/>
          </a:xfrm>
        </p:spPr>
        <p:txBody>
          <a:bodyPr>
            <a:noAutofit/>
          </a:bodyPr>
          <a:lstStyle/>
          <a:p>
            <a:endParaRPr sz="2200" dirty="0"/>
          </a:p>
          <a:p>
            <a:r>
              <a:rPr sz="2200" dirty="0"/>
              <a:t>Dataset: BRATS (Brain Tumor Segmentation Challenge)</a:t>
            </a:r>
          </a:p>
          <a:p>
            <a:r>
              <a:rPr sz="2200" dirty="0"/>
              <a:t>Each scan is a 4D volume: (H, W, D, 4 modalities)</a:t>
            </a:r>
          </a:p>
          <a:p>
            <a:r>
              <a:rPr sz="2200" dirty="0"/>
              <a:t>Modalities: FLAIR, T1, T1Gd, T2</a:t>
            </a:r>
          </a:p>
          <a:p>
            <a:r>
              <a:rPr sz="2200" dirty="0"/>
              <a:t>Ground truth includes multiple tumor regions: edema, enhancing core, necrosis</a:t>
            </a:r>
            <a:endParaRPr lang="ro-RO" sz="2200" dirty="0"/>
          </a:p>
          <a:p>
            <a:r>
              <a:rPr lang="ro-RO" sz="2200" dirty="0"/>
              <a:t>Big dataset </a:t>
            </a:r>
            <a:r>
              <a:rPr lang="en-US" sz="2200" dirty="0"/>
              <a:t>~ 8GB (zipped); </a:t>
            </a:r>
            <a:r>
              <a:rPr lang="en-US" sz="2200" dirty="0" err="1"/>
              <a:t>unzipeed</a:t>
            </a:r>
            <a:r>
              <a:rPr lang="en-US" sz="2200" dirty="0"/>
              <a:t> ~70GB  (32GB after prepressing)</a:t>
            </a:r>
          </a:p>
          <a:p>
            <a:r>
              <a:rPr lang="en-US" sz="2200" dirty="0"/>
              <a:t>~ 550 volumes (~ 34000 slices)</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38C198-F4C6-CD68-1D0D-FEEFAB2D6839}"/>
              </a:ext>
            </a:extLst>
          </p:cNvPr>
          <p:cNvPicPr>
            <a:picLocks noChangeAspect="1"/>
          </p:cNvPicPr>
          <p:nvPr/>
        </p:nvPicPr>
        <p:blipFill>
          <a:blip r:embed="rId2"/>
          <a:stretch>
            <a:fillRect/>
          </a:stretch>
        </p:blipFill>
        <p:spPr>
          <a:xfrm>
            <a:off x="2053119" y="115187"/>
            <a:ext cx="5037762" cy="2103549"/>
          </a:xfrm>
          <a:prstGeom prst="rect">
            <a:avLst/>
          </a:prstGeom>
        </p:spPr>
      </p:pic>
      <p:pic>
        <p:nvPicPr>
          <p:cNvPr id="7" name="Picture 6">
            <a:extLst>
              <a:ext uri="{FF2B5EF4-FFF2-40B4-BE49-F238E27FC236}">
                <a16:creationId xmlns:a16="http://schemas.microsoft.com/office/drawing/2014/main" id="{96D92B4B-A349-5014-0AE8-2E7F980B5653}"/>
              </a:ext>
            </a:extLst>
          </p:cNvPr>
          <p:cNvPicPr>
            <a:picLocks noChangeAspect="1"/>
          </p:cNvPicPr>
          <p:nvPr/>
        </p:nvPicPr>
        <p:blipFill>
          <a:blip r:embed="rId3"/>
          <a:stretch>
            <a:fillRect/>
          </a:stretch>
        </p:blipFill>
        <p:spPr>
          <a:xfrm>
            <a:off x="2053119" y="2218736"/>
            <a:ext cx="5037762" cy="2249333"/>
          </a:xfrm>
          <a:prstGeom prst="rect">
            <a:avLst/>
          </a:prstGeom>
        </p:spPr>
      </p:pic>
      <p:pic>
        <p:nvPicPr>
          <p:cNvPr id="9" name="Picture 8">
            <a:extLst>
              <a:ext uri="{FF2B5EF4-FFF2-40B4-BE49-F238E27FC236}">
                <a16:creationId xmlns:a16="http://schemas.microsoft.com/office/drawing/2014/main" id="{C2270744-9F55-054B-A6C4-796028CD2AB9}"/>
              </a:ext>
            </a:extLst>
          </p:cNvPr>
          <p:cNvPicPr>
            <a:picLocks noChangeAspect="1"/>
          </p:cNvPicPr>
          <p:nvPr/>
        </p:nvPicPr>
        <p:blipFill>
          <a:blip r:embed="rId4"/>
          <a:stretch>
            <a:fillRect/>
          </a:stretch>
        </p:blipFill>
        <p:spPr>
          <a:xfrm>
            <a:off x="2053119" y="4468069"/>
            <a:ext cx="4950919" cy="2184229"/>
          </a:xfrm>
          <a:prstGeom prst="rect">
            <a:avLst/>
          </a:prstGeom>
        </p:spPr>
      </p:pic>
    </p:spTree>
    <p:extLst>
      <p:ext uri="{BB962C8B-B14F-4D97-AF65-F5344CB8AC3E}">
        <p14:creationId xmlns:p14="http://schemas.microsoft.com/office/powerpoint/2010/main" val="104253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 Definition</a:t>
            </a:r>
          </a:p>
        </p:txBody>
      </p:sp>
      <p:sp>
        <p:nvSpPr>
          <p:cNvPr id="3" name="Content Placeholder 2"/>
          <p:cNvSpPr>
            <a:spLocks noGrp="1"/>
          </p:cNvSpPr>
          <p:nvPr>
            <p:ph idx="1"/>
          </p:nvPr>
        </p:nvSpPr>
        <p:spPr/>
        <p:txBody>
          <a:bodyPr>
            <a:normAutofit/>
          </a:bodyPr>
          <a:lstStyle/>
          <a:p>
            <a:r>
              <a:rPr sz="2200" dirty="0"/>
              <a:t>Problem Type: Semantic segmentation</a:t>
            </a:r>
          </a:p>
          <a:p>
            <a:r>
              <a:rPr sz="2200" dirty="0"/>
              <a:t>- Input: 2D axial MRI slices</a:t>
            </a:r>
          </a:p>
          <a:p>
            <a:r>
              <a:rPr sz="2200" dirty="0"/>
              <a:t>- Output: Pixel-wise label masks (4 classes)</a:t>
            </a:r>
          </a:p>
          <a:p>
            <a:r>
              <a:rPr sz="2200" dirty="0"/>
              <a:t>- Objective: Accurately localize and classify tumor subregions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Preprocessing Steps</a:t>
            </a:r>
          </a:p>
        </p:txBody>
      </p:sp>
      <p:sp>
        <p:nvSpPr>
          <p:cNvPr id="3" name="Content Placeholder 2"/>
          <p:cNvSpPr>
            <a:spLocks noGrp="1"/>
          </p:cNvSpPr>
          <p:nvPr>
            <p:ph idx="1"/>
          </p:nvPr>
        </p:nvSpPr>
        <p:spPr>
          <a:xfrm>
            <a:off x="1606045" y="2048110"/>
            <a:ext cx="5937755" cy="4254367"/>
          </a:xfrm>
        </p:spPr>
        <p:txBody>
          <a:bodyPr>
            <a:noAutofit/>
          </a:bodyPr>
          <a:lstStyle/>
          <a:p>
            <a:endParaRPr sz="2000" dirty="0"/>
          </a:p>
          <a:p>
            <a:r>
              <a:rPr sz="2000" dirty="0"/>
              <a:t>Loaded .nii.gz files and extracted 2D slices</a:t>
            </a:r>
          </a:p>
          <a:p>
            <a:r>
              <a:rPr sz="2000" dirty="0"/>
              <a:t>Used only tumor-containing slices for training</a:t>
            </a:r>
          </a:p>
          <a:p>
            <a:r>
              <a:rPr sz="2000" dirty="0"/>
              <a:t>Normalized each slice (mean 0, std 1)</a:t>
            </a:r>
          </a:p>
          <a:p>
            <a:r>
              <a:rPr sz="2000" dirty="0"/>
              <a:t>Resized to 256x256</a:t>
            </a:r>
          </a:p>
          <a:p>
            <a:r>
              <a:rPr sz="2000" dirty="0"/>
              <a:t>Saved as .</a:t>
            </a:r>
            <a:r>
              <a:rPr sz="2000" dirty="0" err="1"/>
              <a:t>npy</a:t>
            </a:r>
            <a:r>
              <a:rPr sz="2000" dirty="0"/>
              <a:t> for fast disk access</a:t>
            </a:r>
          </a:p>
          <a:p>
            <a:r>
              <a:rPr sz="2000" dirty="0"/>
              <a:t>Split dataset by volume to avoid data leakage</a:t>
            </a:r>
          </a:p>
          <a:p>
            <a:r>
              <a:rPr sz="2000" dirty="0"/>
              <a:t>Applied </a:t>
            </a:r>
            <a:r>
              <a:rPr lang="en-US" sz="2000" dirty="0"/>
              <a:t>augmentation</a:t>
            </a:r>
            <a:r>
              <a:rPr sz="2000" dirty="0"/>
              <a:t> for training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Augmentation (Training Only)</a:t>
            </a:r>
          </a:p>
        </p:txBody>
      </p:sp>
      <p:sp>
        <p:nvSpPr>
          <p:cNvPr id="3" name="Content Placeholder 2"/>
          <p:cNvSpPr>
            <a:spLocks noGrp="1"/>
          </p:cNvSpPr>
          <p:nvPr>
            <p:ph idx="1"/>
          </p:nvPr>
        </p:nvSpPr>
        <p:spPr/>
        <p:txBody>
          <a:bodyPr>
            <a:normAutofit/>
          </a:bodyPr>
          <a:lstStyle/>
          <a:p>
            <a:endParaRPr sz="2200" dirty="0"/>
          </a:p>
          <a:p>
            <a:r>
              <a:rPr sz="2200" dirty="0"/>
              <a:t>Horizontal and vertical flips</a:t>
            </a:r>
          </a:p>
          <a:p>
            <a:r>
              <a:rPr sz="2200" dirty="0"/>
              <a:t>Random rotations (90 degrees)</a:t>
            </a:r>
          </a:p>
          <a:p>
            <a:r>
              <a:rPr sz="2200" dirty="0"/>
              <a:t>Brightness and contrast adjustment</a:t>
            </a:r>
          </a:p>
          <a:p>
            <a:r>
              <a:rPr sz="2200" dirty="0"/>
              <a:t>Gaussian blur for generalization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2D U-Net?</a:t>
            </a:r>
          </a:p>
        </p:txBody>
      </p:sp>
      <p:sp>
        <p:nvSpPr>
          <p:cNvPr id="3" name="Content Placeholder 2"/>
          <p:cNvSpPr>
            <a:spLocks noGrp="1"/>
          </p:cNvSpPr>
          <p:nvPr>
            <p:ph idx="1"/>
          </p:nvPr>
        </p:nvSpPr>
        <p:spPr/>
        <p:txBody>
          <a:bodyPr>
            <a:noAutofit/>
          </a:bodyPr>
          <a:lstStyle/>
          <a:p>
            <a:endParaRPr sz="2200" dirty="0"/>
          </a:p>
          <a:p>
            <a:r>
              <a:rPr sz="2200" dirty="0"/>
              <a:t>Lower memory requirements than 3D U-Net</a:t>
            </a:r>
          </a:p>
          <a:p>
            <a:r>
              <a:rPr sz="2200" dirty="0"/>
              <a:t>Enables training on 2D tumor-containing slices</a:t>
            </a:r>
          </a:p>
          <a:p>
            <a:r>
              <a:rPr sz="2200" dirty="0"/>
              <a:t>Pretrained encoders (e.g., ResNet34) available via </a:t>
            </a:r>
            <a:r>
              <a:rPr sz="2200" dirty="0" err="1"/>
              <a:t>segmentation_models.pytorch</a:t>
            </a:r>
            <a:endParaRPr sz="2200" dirty="0"/>
          </a:p>
          <a:p>
            <a:r>
              <a:rPr sz="2200" dirty="0"/>
              <a:t>Much faster training, good for prototyping</a:t>
            </a:r>
          </a:p>
          <a:p>
            <a:r>
              <a:rPr sz="2200" dirty="0"/>
              <a:t>Slices capture tumor features effectively in axial 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58" y="158447"/>
            <a:ext cx="5937755" cy="1188720"/>
          </a:xfrm>
        </p:spPr>
        <p:txBody>
          <a:bodyPr/>
          <a:lstStyle/>
          <a:p>
            <a:r>
              <a:rPr dirty="0"/>
              <a:t>2D U-Net Architecture</a:t>
            </a:r>
          </a:p>
        </p:txBody>
      </p:sp>
      <p:sp>
        <p:nvSpPr>
          <p:cNvPr id="3" name="Content Placeholder 2"/>
          <p:cNvSpPr>
            <a:spLocks noGrp="1"/>
          </p:cNvSpPr>
          <p:nvPr>
            <p:ph idx="1"/>
          </p:nvPr>
        </p:nvSpPr>
        <p:spPr>
          <a:xfrm>
            <a:off x="78658" y="1002890"/>
            <a:ext cx="9065342" cy="5948516"/>
          </a:xfrm>
        </p:spPr>
        <p:txBody>
          <a:bodyPr>
            <a:noAutofit/>
          </a:bodyPr>
          <a:lstStyle/>
          <a:p>
            <a:endParaRPr dirty="0"/>
          </a:p>
          <a:p>
            <a:r>
              <a:rPr dirty="0"/>
              <a:t>Contracting path: convolution + max pooling to </a:t>
            </a:r>
            <a:endParaRPr lang="en-US" dirty="0"/>
          </a:p>
          <a:p>
            <a:pPr marL="0" indent="0">
              <a:buNone/>
            </a:pPr>
            <a:r>
              <a:rPr dirty="0"/>
              <a:t>extract context</a:t>
            </a:r>
          </a:p>
          <a:p>
            <a:r>
              <a:rPr dirty="0"/>
              <a:t>Expanding path: </a:t>
            </a:r>
            <a:r>
              <a:rPr dirty="0" err="1"/>
              <a:t>upsampling</a:t>
            </a:r>
            <a:r>
              <a:rPr dirty="0"/>
              <a:t> + concatenation for localization</a:t>
            </a:r>
          </a:p>
          <a:p>
            <a:r>
              <a:rPr dirty="0"/>
              <a:t>Skip connections: combine low-level features from encoder with decoder</a:t>
            </a:r>
          </a:p>
          <a:p>
            <a:r>
              <a:rPr dirty="0"/>
              <a:t>Each layer </a:t>
            </a:r>
            <a:endParaRPr lang="en-US" dirty="0"/>
          </a:p>
          <a:p>
            <a:pPr marL="0" indent="0">
              <a:buNone/>
            </a:pPr>
            <a:r>
              <a:rPr dirty="0"/>
              <a:t>outputs feature </a:t>
            </a:r>
            <a:endParaRPr lang="en-US" dirty="0"/>
          </a:p>
          <a:p>
            <a:pPr marL="0" indent="0">
              <a:buNone/>
            </a:pPr>
            <a:r>
              <a:rPr dirty="0"/>
              <a:t>maps with </a:t>
            </a:r>
            <a:endParaRPr lang="en-US" dirty="0"/>
          </a:p>
          <a:p>
            <a:pPr marL="0" indent="0">
              <a:buNone/>
            </a:pPr>
            <a:r>
              <a:rPr dirty="0"/>
              <a:t>higher spatial </a:t>
            </a:r>
            <a:endParaRPr lang="en-US" dirty="0"/>
          </a:p>
          <a:p>
            <a:pPr marL="0" indent="0">
              <a:buNone/>
            </a:pPr>
            <a:r>
              <a:rPr dirty="0"/>
              <a:t>resolution</a:t>
            </a:r>
          </a:p>
          <a:p>
            <a:r>
              <a:rPr dirty="0"/>
              <a:t>Final output: </a:t>
            </a:r>
            <a:endParaRPr lang="en-US" dirty="0"/>
          </a:p>
          <a:p>
            <a:pPr marL="0" indent="0">
              <a:buNone/>
            </a:pPr>
            <a:r>
              <a:rPr dirty="0"/>
              <a:t>per-pixel class </a:t>
            </a:r>
            <a:endParaRPr lang="en-US" dirty="0"/>
          </a:p>
          <a:p>
            <a:pPr marL="0" indent="0">
              <a:buNone/>
            </a:pPr>
            <a:r>
              <a:rPr dirty="0"/>
              <a:t>prediction </a:t>
            </a:r>
            <a:endParaRPr lang="en-US" dirty="0"/>
          </a:p>
          <a:p>
            <a:pPr marL="0" indent="0">
              <a:buNone/>
            </a:pPr>
            <a:r>
              <a:rPr dirty="0"/>
              <a:t>(segmentation map)</a:t>
            </a:r>
          </a:p>
        </p:txBody>
      </p:sp>
      <p:pic>
        <p:nvPicPr>
          <p:cNvPr id="5" name="Picture 4">
            <a:extLst>
              <a:ext uri="{FF2B5EF4-FFF2-40B4-BE49-F238E27FC236}">
                <a16:creationId xmlns:a16="http://schemas.microsoft.com/office/drawing/2014/main" id="{191C7295-3228-4A36-2A75-CB474FC62CAD}"/>
              </a:ext>
            </a:extLst>
          </p:cNvPr>
          <p:cNvPicPr>
            <a:picLocks noChangeAspect="1"/>
          </p:cNvPicPr>
          <p:nvPr/>
        </p:nvPicPr>
        <p:blipFill>
          <a:blip r:embed="rId2"/>
          <a:stretch>
            <a:fillRect/>
          </a:stretch>
        </p:blipFill>
        <p:spPr>
          <a:xfrm>
            <a:off x="2052721" y="3374990"/>
            <a:ext cx="7091279" cy="3483010"/>
          </a:xfrm>
          <a:prstGeom prst="rect">
            <a:avLst/>
          </a:prstGeom>
        </p:spPr>
      </p:pic>
      <p:pic>
        <p:nvPicPr>
          <p:cNvPr id="7" name="Picture 6">
            <a:extLst>
              <a:ext uri="{FF2B5EF4-FFF2-40B4-BE49-F238E27FC236}">
                <a16:creationId xmlns:a16="http://schemas.microsoft.com/office/drawing/2014/main" id="{FB7600A9-F183-1FB5-B3F2-82652640990A}"/>
              </a:ext>
            </a:extLst>
          </p:cNvPr>
          <p:cNvPicPr>
            <a:picLocks noChangeAspect="1"/>
          </p:cNvPicPr>
          <p:nvPr/>
        </p:nvPicPr>
        <p:blipFill>
          <a:blip r:embed="rId3"/>
          <a:stretch>
            <a:fillRect/>
          </a:stretch>
        </p:blipFill>
        <p:spPr>
          <a:xfrm>
            <a:off x="5855341" y="309286"/>
            <a:ext cx="3288659" cy="20757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Details</a:t>
            </a:r>
          </a:p>
        </p:txBody>
      </p:sp>
      <p:sp>
        <p:nvSpPr>
          <p:cNvPr id="3" name="Content Placeholder 2"/>
          <p:cNvSpPr>
            <a:spLocks noGrp="1"/>
          </p:cNvSpPr>
          <p:nvPr>
            <p:ph idx="1"/>
          </p:nvPr>
        </p:nvSpPr>
        <p:spPr/>
        <p:txBody>
          <a:bodyPr>
            <a:noAutofit/>
          </a:bodyPr>
          <a:lstStyle/>
          <a:p>
            <a:endParaRPr sz="2200" dirty="0"/>
          </a:p>
          <a:p>
            <a:r>
              <a:rPr sz="2200" dirty="0"/>
              <a:t>Loss: </a:t>
            </a:r>
            <a:r>
              <a:rPr sz="2200" dirty="0" err="1"/>
              <a:t>CrossEntropyLoss</a:t>
            </a:r>
            <a:endParaRPr sz="2200" dirty="0"/>
          </a:p>
          <a:p>
            <a:r>
              <a:rPr sz="2200" dirty="0"/>
              <a:t>Optimizer: Adam</a:t>
            </a:r>
          </a:p>
          <a:p>
            <a:r>
              <a:rPr sz="2200" dirty="0"/>
              <a:t>Early stopping based on validation loss</a:t>
            </a:r>
          </a:p>
          <a:p>
            <a:r>
              <a:rPr sz="2200" dirty="0"/>
              <a:t>Dice Score used as evaluation metric</a:t>
            </a:r>
          </a:p>
          <a:p>
            <a:r>
              <a:rPr sz="2200" dirty="0"/>
              <a:t>Batch size: 8, learning rate: 1e-3</a:t>
            </a:r>
          </a:p>
          <a:p>
            <a:r>
              <a:rPr sz="2200" dirty="0"/>
              <a:t>Best model saved automatically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Early Stopping</a:t>
            </a:r>
          </a:p>
        </p:txBody>
      </p:sp>
      <p:sp>
        <p:nvSpPr>
          <p:cNvPr id="3" name="Content Placeholder 2"/>
          <p:cNvSpPr>
            <a:spLocks noGrp="1"/>
          </p:cNvSpPr>
          <p:nvPr>
            <p:ph idx="1"/>
          </p:nvPr>
        </p:nvSpPr>
        <p:spPr/>
        <p:txBody>
          <a:bodyPr>
            <a:normAutofit/>
          </a:bodyPr>
          <a:lstStyle/>
          <a:p>
            <a:r>
              <a:rPr sz="2200" dirty="0"/>
              <a:t>Monitors validation </a:t>
            </a:r>
            <a:r>
              <a:rPr lang="ro-RO" sz="2200" dirty="0"/>
              <a:t>loss</a:t>
            </a:r>
            <a:r>
              <a:rPr sz="2200" dirty="0"/>
              <a:t> score</a:t>
            </a:r>
          </a:p>
          <a:p>
            <a:r>
              <a:rPr sz="2200" dirty="0"/>
              <a:t>Stops training if no improvement for 5 epochs</a:t>
            </a:r>
          </a:p>
          <a:p>
            <a:r>
              <a:rPr sz="2200" dirty="0"/>
              <a:t>Prevents overfitting and wasted compute</a:t>
            </a:r>
          </a:p>
          <a:p>
            <a:r>
              <a:rPr sz="2200" dirty="0"/>
              <a:t>Custom early stopping callback implemented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Validation Strategy</a:t>
            </a:r>
          </a:p>
        </p:txBody>
      </p:sp>
      <p:sp>
        <p:nvSpPr>
          <p:cNvPr id="3" name="Content Placeholder 2"/>
          <p:cNvSpPr>
            <a:spLocks noGrp="1"/>
          </p:cNvSpPr>
          <p:nvPr>
            <p:ph idx="1"/>
          </p:nvPr>
        </p:nvSpPr>
        <p:spPr>
          <a:xfrm>
            <a:off x="1606045" y="2638045"/>
            <a:ext cx="5937755" cy="1707813"/>
          </a:xfrm>
        </p:spPr>
        <p:txBody>
          <a:bodyPr>
            <a:normAutofit/>
          </a:bodyPr>
          <a:lstStyle/>
          <a:p>
            <a:r>
              <a:rPr sz="2200" dirty="0"/>
              <a:t>Split dataset </a:t>
            </a:r>
            <a:r>
              <a:rPr lang="en-US" sz="2200" dirty="0"/>
              <a:t>70</a:t>
            </a:r>
            <a:r>
              <a:rPr sz="2200" dirty="0"/>
              <a:t>/</a:t>
            </a:r>
            <a:r>
              <a:rPr lang="en-US" sz="2200" dirty="0"/>
              <a:t>15/15</a:t>
            </a:r>
            <a:r>
              <a:rPr sz="2200" dirty="0"/>
              <a:t> into training</a:t>
            </a:r>
            <a:r>
              <a:rPr lang="en-US" sz="2200" dirty="0"/>
              <a:t>, </a:t>
            </a:r>
            <a:r>
              <a:rPr sz="2200" dirty="0"/>
              <a:t>validation</a:t>
            </a:r>
            <a:r>
              <a:rPr lang="en-US" sz="2200" dirty="0"/>
              <a:t> and test</a:t>
            </a:r>
            <a:endParaRPr sz="2200" dirty="0"/>
          </a:p>
          <a:p>
            <a:r>
              <a:rPr lang="en-US" sz="2200" dirty="0"/>
              <a:t>Test</a:t>
            </a:r>
            <a:r>
              <a:rPr sz="2200" dirty="0"/>
              <a:t> set used only for evaluation</a:t>
            </a:r>
          </a:p>
          <a:p>
            <a:r>
              <a:rPr sz="2200" dirty="0"/>
              <a:t>Dice score monitored to check generalization</a:t>
            </a:r>
          </a:p>
        </p:txBody>
      </p:sp>
      <p:pic>
        <p:nvPicPr>
          <p:cNvPr id="5" name="Picture 4" descr="A diagram of a problem&#10;&#10;AI-generated content may be incorrect.">
            <a:extLst>
              <a:ext uri="{FF2B5EF4-FFF2-40B4-BE49-F238E27FC236}">
                <a16:creationId xmlns:a16="http://schemas.microsoft.com/office/drawing/2014/main" id="{E8C0F7C3-E1C2-7E84-10C1-BD87E2EC0124}"/>
              </a:ext>
            </a:extLst>
          </p:cNvPr>
          <p:cNvPicPr>
            <a:picLocks noChangeAspect="1"/>
          </p:cNvPicPr>
          <p:nvPr/>
        </p:nvPicPr>
        <p:blipFill>
          <a:blip r:embed="rId2"/>
          <a:stretch>
            <a:fillRect/>
          </a:stretch>
        </p:blipFill>
        <p:spPr>
          <a:xfrm>
            <a:off x="1945558" y="4345858"/>
            <a:ext cx="5252884" cy="2476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a:xfrm>
            <a:off x="1606045" y="2153412"/>
            <a:ext cx="6436742" cy="3101983"/>
          </a:xfrm>
        </p:spPr>
        <p:txBody>
          <a:bodyPr>
            <a:noAutofit/>
          </a:bodyPr>
          <a:lstStyle/>
          <a:p>
            <a:endParaRPr sz="2200" dirty="0"/>
          </a:p>
          <a:p>
            <a:r>
              <a:rPr sz="2200" dirty="0"/>
              <a:t>Train Dice ~0.85+, Val Dice ~0.65</a:t>
            </a:r>
          </a:p>
          <a:p>
            <a:r>
              <a:rPr sz="2200" dirty="0"/>
              <a:t>Val Dice </a:t>
            </a:r>
            <a:r>
              <a:rPr lang="en-US" sz="2200" dirty="0"/>
              <a:t>stagnated</a:t>
            </a:r>
            <a:r>
              <a:rPr sz="2200" dirty="0"/>
              <a:t> early → early stopping triggered</a:t>
            </a:r>
          </a:p>
          <a:p>
            <a:r>
              <a:rPr sz="2200" dirty="0"/>
              <a:t>Train/</a:t>
            </a:r>
            <a:r>
              <a:rPr sz="2200" dirty="0" err="1"/>
              <a:t>val</a:t>
            </a:r>
            <a:r>
              <a:rPr sz="2200" dirty="0"/>
              <a:t> loss gap widened → overfitting observed</a:t>
            </a:r>
          </a:p>
          <a:p>
            <a:r>
              <a:rPr sz="2200" dirty="0"/>
              <a:t>FLAIR-only input may limit generalization</a:t>
            </a:r>
          </a:p>
          <a:p>
            <a:r>
              <a:rPr sz="2200" dirty="0"/>
              <a:t>Pretrained encoder converges fast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Model Evaluation Metrics</a:t>
            </a:r>
          </a:p>
        </p:txBody>
      </p:sp>
      <p:sp>
        <p:nvSpPr>
          <p:cNvPr id="3" name="Content Placeholder 2"/>
          <p:cNvSpPr>
            <a:spLocks noGrp="1"/>
          </p:cNvSpPr>
          <p:nvPr>
            <p:ph idx="1"/>
          </p:nvPr>
        </p:nvSpPr>
        <p:spPr>
          <a:xfrm>
            <a:off x="1606046" y="2638046"/>
            <a:ext cx="5433852" cy="1904458"/>
          </a:xfrm>
        </p:spPr>
        <p:txBody>
          <a:bodyPr>
            <a:normAutofit/>
          </a:bodyPr>
          <a:lstStyle/>
          <a:p>
            <a:r>
              <a:rPr sz="2200" dirty="0"/>
              <a:t>Dice Score (per class and average)</a:t>
            </a:r>
          </a:p>
          <a:p>
            <a:r>
              <a:rPr sz="2200" dirty="0"/>
              <a:t>Pixel accuracy: correct pixels / total pixels</a:t>
            </a:r>
          </a:p>
          <a:p>
            <a:r>
              <a:rPr sz="2200" dirty="0"/>
              <a:t>Optional: confusion matrix to analyze misclassifications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FCBE-77E3-6A18-AE1F-68F92B9DE6C2}"/>
              </a:ext>
            </a:extLst>
          </p:cNvPr>
          <p:cNvSpPr>
            <a:spLocks noGrp="1"/>
          </p:cNvSpPr>
          <p:nvPr>
            <p:ph type="title"/>
          </p:nvPr>
        </p:nvSpPr>
        <p:spPr>
          <a:xfrm>
            <a:off x="1603122" y="370332"/>
            <a:ext cx="5937755" cy="1188720"/>
          </a:xfrm>
        </p:spPr>
        <p:txBody>
          <a:bodyPr/>
          <a:lstStyle/>
          <a:p>
            <a:r>
              <a:rPr lang="en-US" dirty="0"/>
              <a:t>2d u-</a:t>
            </a:r>
            <a:r>
              <a:rPr lang="en-US" dirty="0" err="1"/>
              <a:t>nET</a:t>
            </a:r>
            <a:r>
              <a:rPr lang="en-US" dirty="0"/>
              <a:t> (No Augmentation)</a:t>
            </a:r>
          </a:p>
        </p:txBody>
      </p:sp>
      <p:pic>
        <p:nvPicPr>
          <p:cNvPr id="4" name="Picture 3">
            <a:extLst>
              <a:ext uri="{FF2B5EF4-FFF2-40B4-BE49-F238E27FC236}">
                <a16:creationId xmlns:a16="http://schemas.microsoft.com/office/drawing/2014/main" id="{C8298469-1559-B596-4599-0D18773F8ADC}"/>
              </a:ext>
            </a:extLst>
          </p:cNvPr>
          <p:cNvPicPr>
            <a:picLocks noChangeAspect="1"/>
          </p:cNvPicPr>
          <p:nvPr/>
        </p:nvPicPr>
        <p:blipFill>
          <a:blip r:embed="rId2"/>
          <a:stretch>
            <a:fillRect/>
          </a:stretch>
        </p:blipFill>
        <p:spPr>
          <a:xfrm>
            <a:off x="904575" y="3222522"/>
            <a:ext cx="7767471" cy="3505616"/>
          </a:xfrm>
          <a:prstGeom prst="rect">
            <a:avLst/>
          </a:prstGeom>
        </p:spPr>
      </p:pic>
      <p:pic>
        <p:nvPicPr>
          <p:cNvPr id="8" name="Picture 7">
            <a:extLst>
              <a:ext uri="{FF2B5EF4-FFF2-40B4-BE49-F238E27FC236}">
                <a16:creationId xmlns:a16="http://schemas.microsoft.com/office/drawing/2014/main" id="{A2EC472F-4499-9B1B-6620-039426F96366}"/>
              </a:ext>
            </a:extLst>
          </p:cNvPr>
          <p:cNvPicPr>
            <a:picLocks noChangeAspect="1"/>
          </p:cNvPicPr>
          <p:nvPr/>
        </p:nvPicPr>
        <p:blipFill>
          <a:blip r:embed="rId3"/>
          <a:stretch>
            <a:fillRect/>
          </a:stretch>
        </p:blipFill>
        <p:spPr>
          <a:xfrm>
            <a:off x="904575" y="1945994"/>
            <a:ext cx="2391109" cy="1276528"/>
          </a:xfrm>
          <a:prstGeom prst="rect">
            <a:avLst/>
          </a:prstGeom>
        </p:spPr>
      </p:pic>
    </p:spTree>
    <p:extLst>
      <p:ext uri="{BB962C8B-B14F-4D97-AF65-F5344CB8AC3E}">
        <p14:creationId xmlns:p14="http://schemas.microsoft.com/office/powerpoint/2010/main" val="2226567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2F67A84-45FF-16A8-1A5F-05A618609B1A}"/>
              </a:ext>
            </a:extLst>
          </p:cNvPr>
          <p:cNvSpPr>
            <a:spLocks noGrp="1"/>
          </p:cNvSpPr>
          <p:nvPr>
            <p:ph type="title"/>
          </p:nvPr>
        </p:nvSpPr>
        <p:spPr>
          <a:xfrm>
            <a:off x="1603122" y="370332"/>
            <a:ext cx="5937755" cy="1188720"/>
          </a:xfrm>
        </p:spPr>
        <p:txBody>
          <a:bodyPr/>
          <a:lstStyle/>
          <a:p>
            <a:r>
              <a:rPr lang="en-US" dirty="0"/>
              <a:t>2d u-</a:t>
            </a:r>
            <a:r>
              <a:rPr lang="en-US" dirty="0" err="1"/>
              <a:t>nET</a:t>
            </a:r>
            <a:r>
              <a:rPr lang="en-US" dirty="0"/>
              <a:t> pretrained(No Augmentation)</a:t>
            </a:r>
          </a:p>
        </p:txBody>
      </p:sp>
      <p:pic>
        <p:nvPicPr>
          <p:cNvPr id="11" name="Picture 10">
            <a:extLst>
              <a:ext uri="{FF2B5EF4-FFF2-40B4-BE49-F238E27FC236}">
                <a16:creationId xmlns:a16="http://schemas.microsoft.com/office/drawing/2014/main" id="{C269447A-0C5E-23C9-85C6-A8D8A3A29F12}"/>
              </a:ext>
            </a:extLst>
          </p:cNvPr>
          <p:cNvPicPr>
            <a:picLocks noChangeAspect="1"/>
          </p:cNvPicPr>
          <p:nvPr/>
        </p:nvPicPr>
        <p:blipFill>
          <a:blip r:embed="rId2"/>
          <a:stretch>
            <a:fillRect/>
          </a:stretch>
        </p:blipFill>
        <p:spPr>
          <a:xfrm>
            <a:off x="904575" y="3222522"/>
            <a:ext cx="8036258" cy="3265146"/>
          </a:xfrm>
          <a:prstGeom prst="rect">
            <a:avLst/>
          </a:prstGeom>
        </p:spPr>
      </p:pic>
      <p:pic>
        <p:nvPicPr>
          <p:cNvPr id="13" name="Picture 12">
            <a:extLst>
              <a:ext uri="{FF2B5EF4-FFF2-40B4-BE49-F238E27FC236}">
                <a16:creationId xmlns:a16="http://schemas.microsoft.com/office/drawing/2014/main" id="{0BB8FD9F-03CF-6B01-038D-9F2773592F81}"/>
              </a:ext>
            </a:extLst>
          </p:cNvPr>
          <p:cNvPicPr>
            <a:picLocks noChangeAspect="1"/>
          </p:cNvPicPr>
          <p:nvPr/>
        </p:nvPicPr>
        <p:blipFill>
          <a:blip r:embed="rId3"/>
          <a:stretch>
            <a:fillRect/>
          </a:stretch>
        </p:blipFill>
        <p:spPr>
          <a:xfrm>
            <a:off x="904575" y="1850731"/>
            <a:ext cx="2362530" cy="1371791"/>
          </a:xfrm>
          <a:prstGeom prst="rect">
            <a:avLst/>
          </a:prstGeom>
        </p:spPr>
      </p:pic>
    </p:spTree>
    <p:extLst>
      <p:ext uri="{BB962C8B-B14F-4D97-AF65-F5344CB8AC3E}">
        <p14:creationId xmlns:p14="http://schemas.microsoft.com/office/powerpoint/2010/main" val="3251089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87F7EB-1C66-1588-D81E-4CC98D33B9CB}"/>
              </a:ext>
            </a:extLst>
          </p:cNvPr>
          <p:cNvSpPr>
            <a:spLocks noGrp="1"/>
          </p:cNvSpPr>
          <p:nvPr>
            <p:ph type="title"/>
          </p:nvPr>
        </p:nvSpPr>
        <p:spPr>
          <a:xfrm>
            <a:off x="1606550" y="965200"/>
            <a:ext cx="5937250" cy="1187450"/>
          </a:xfrm>
        </p:spPr>
        <p:txBody>
          <a:bodyPr/>
          <a:lstStyle/>
          <a:p>
            <a:r>
              <a:rPr lang="en-US" dirty="0"/>
              <a:t>2d u-</a:t>
            </a:r>
            <a:r>
              <a:rPr lang="en-US" dirty="0" err="1"/>
              <a:t>nET</a:t>
            </a:r>
            <a:endParaRPr lang="en-US" dirty="0"/>
          </a:p>
        </p:txBody>
      </p:sp>
      <p:pic>
        <p:nvPicPr>
          <p:cNvPr id="6" name="Picture 5">
            <a:extLst>
              <a:ext uri="{FF2B5EF4-FFF2-40B4-BE49-F238E27FC236}">
                <a16:creationId xmlns:a16="http://schemas.microsoft.com/office/drawing/2014/main" id="{8936A531-3B46-E65E-29EB-58E929582B4D}"/>
              </a:ext>
            </a:extLst>
          </p:cNvPr>
          <p:cNvPicPr>
            <a:picLocks noChangeAspect="1"/>
          </p:cNvPicPr>
          <p:nvPr/>
        </p:nvPicPr>
        <p:blipFill>
          <a:blip r:embed="rId2"/>
          <a:stretch>
            <a:fillRect/>
          </a:stretch>
        </p:blipFill>
        <p:spPr>
          <a:xfrm>
            <a:off x="953729" y="3744293"/>
            <a:ext cx="7382134" cy="2922434"/>
          </a:xfrm>
          <a:prstGeom prst="rect">
            <a:avLst/>
          </a:prstGeom>
        </p:spPr>
      </p:pic>
      <p:pic>
        <p:nvPicPr>
          <p:cNvPr id="8" name="Picture 7">
            <a:extLst>
              <a:ext uri="{FF2B5EF4-FFF2-40B4-BE49-F238E27FC236}">
                <a16:creationId xmlns:a16="http://schemas.microsoft.com/office/drawing/2014/main" id="{496CCCB6-061B-81FF-C844-BCCFD701EE24}"/>
              </a:ext>
            </a:extLst>
          </p:cNvPr>
          <p:cNvPicPr>
            <a:picLocks noChangeAspect="1"/>
          </p:cNvPicPr>
          <p:nvPr/>
        </p:nvPicPr>
        <p:blipFill>
          <a:blip r:embed="rId3"/>
          <a:stretch>
            <a:fillRect/>
          </a:stretch>
        </p:blipFill>
        <p:spPr>
          <a:xfrm>
            <a:off x="953729" y="2343923"/>
            <a:ext cx="2343477" cy="1400370"/>
          </a:xfrm>
          <a:prstGeom prst="rect">
            <a:avLst/>
          </a:prstGeom>
        </p:spPr>
      </p:pic>
    </p:spTree>
    <p:extLst>
      <p:ext uri="{BB962C8B-B14F-4D97-AF65-F5344CB8AC3E}">
        <p14:creationId xmlns:p14="http://schemas.microsoft.com/office/powerpoint/2010/main" val="2383895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40743E8-74FD-25DC-8058-B5B0CEC7C2A4}"/>
              </a:ext>
            </a:extLst>
          </p:cNvPr>
          <p:cNvSpPr>
            <a:spLocks noGrp="1"/>
          </p:cNvSpPr>
          <p:nvPr>
            <p:ph type="title"/>
          </p:nvPr>
        </p:nvSpPr>
        <p:spPr>
          <a:xfrm>
            <a:off x="1603121" y="734085"/>
            <a:ext cx="5937755" cy="1188720"/>
          </a:xfrm>
        </p:spPr>
        <p:txBody>
          <a:bodyPr/>
          <a:lstStyle/>
          <a:p>
            <a:r>
              <a:rPr lang="en-US" dirty="0"/>
              <a:t>2d u-</a:t>
            </a:r>
            <a:r>
              <a:rPr lang="en-US" dirty="0" err="1"/>
              <a:t>nET</a:t>
            </a:r>
            <a:r>
              <a:rPr lang="en-US" dirty="0"/>
              <a:t> pretrained</a:t>
            </a:r>
          </a:p>
        </p:txBody>
      </p:sp>
      <p:pic>
        <p:nvPicPr>
          <p:cNvPr id="6" name="Picture 5">
            <a:extLst>
              <a:ext uri="{FF2B5EF4-FFF2-40B4-BE49-F238E27FC236}">
                <a16:creationId xmlns:a16="http://schemas.microsoft.com/office/drawing/2014/main" id="{AB69C54B-925E-BE22-BFD7-09902CC4A758}"/>
              </a:ext>
            </a:extLst>
          </p:cNvPr>
          <p:cNvPicPr>
            <a:picLocks noChangeAspect="1"/>
          </p:cNvPicPr>
          <p:nvPr/>
        </p:nvPicPr>
        <p:blipFill>
          <a:blip r:embed="rId2"/>
          <a:stretch>
            <a:fillRect/>
          </a:stretch>
        </p:blipFill>
        <p:spPr>
          <a:xfrm>
            <a:off x="717754" y="3429000"/>
            <a:ext cx="7708490" cy="3164538"/>
          </a:xfrm>
          <a:prstGeom prst="rect">
            <a:avLst/>
          </a:prstGeom>
        </p:spPr>
      </p:pic>
      <p:pic>
        <p:nvPicPr>
          <p:cNvPr id="8" name="Picture 7">
            <a:extLst>
              <a:ext uri="{FF2B5EF4-FFF2-40B4-BE49-F238E27FC236}">
                <a16:creationId xmlns:a16="http://schemas.microsoft.com/office/drawing/2014/main" id="{92AE2A46-11A0-87BA-ECD4-80794024BAD9}"/>
              </a:ext>
            </a:extLst>
          </p:cNvPr>
          <p:cNvPicPr>
            <a:picLocks noChangeAspect="1"/>
          </p:cNvPicPr>
          <p:nvPr/>
        </p:nvPicPr>
        <p:blipFill>
          <a:blip r:embed="rId3"/>
          <a:stretch>
            <a:fillRect/>
          </a:stretch>
        </p:blipFill>
        <p:spPr>
          <a:xfrm>
            <a:off x="717754" y="2028630"/>
            <a:ext cx="2333951" cy="1400370"/>
          </a:xfrm>
          <a:prstGeom prst="rect">
            <a:avLst/>
          </a:prstGeom>
        </p:spPr>
      </p:pic>
    </p:spTree>
    <p:extLst>
      <p:ext uri="{BB962C8B-B14F-4D97-AF65-F5344CB8AC3E}">
        <p14:creationId xmlns:p14="http://schemas.microsoft.com/office/powerpoint/2010/main" val="1907463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Results</a:t>
            </a:r>
          </a:p>
        </p:txBody>
      </p:sp>
      <p:sp>
        <p:nvSpPr>
          <p:cNvPr id="3" name="Content Placeholder 2"/>
          <p:cNvSpPr>
            <a:spLocks noGrp="1"/>
          </p:cNvSpPr>
          <p:nvPr>
            <p:ph idx="1"/>
          </p:nvPr>
        </p:nvSpPr>
        <p:spPr>
          <a:xfrm>
            <a:off x="1600200" y="1654767"/>
            <a:ext cx="5937755" cy="4539556"/>
          </a:xfrm>
        </p:spPr>
        <p:txBody>
          <a:bodyPr>
            <a:noAutofit/>
          </a:bodyPr>
          <a:lstStyle/>
          <a:p>
            <a:endParaRPr sz="2200" dirty="0"/>
          </a:p>
          <a:p>
            <a:r>
              <a:rPr sz="2200" dirty="0"/>
              <a:t>The 2D U-Net with pretrained ResNet34 encoder trained well on tumor slices. However, validation loss and Dice score plateaued early, indicating limited generalization. This could be due to using only FLAIR modality, lack of tumor class diversity, or need for stronger regularization. </a:t>
            </a:r>
            <a:endParaRPr lang="en-US" sz="2200" dirty="0"/>
          </a:p>
          <a:p>
            <a:r>
              <a:rPr sz="2200" dirty="0"/>
              <a:t>Overfitting was controlled with early stopping. </a:t>
            </a:r>
            <a:endParaRPr lang="en-US" sz="2200" dirty="0"/>
          </a:p>
          <a:p>
            <a:r>
              <a:rPr lang="en-US" sz="2200" dirty="0"/>
              <a:t>Data augmentation improved the model’s learning as it could be seen in the diagrams from a few slides ago.</a:t>
            </a:r>
            <a:endParaRPr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2EB539-FA1C-861D-9CF3-12B4E9866D72}"/>
              </a:ext>
            </a:extLst>
          </p:cNvPr>
          <p:cNvPicPr>
            <a:picLocks noChangeAspect="1"/>
          </p:cNvPicPr>
          <p:nvPr/>
        </p:nvPicPr>
        <p:blipFill>
          <a:blip r:embed="rId2"/>
          <a:stretch>
            <a:fillRect/>
          </a:stretch>
        </p:blipFill>
        <p:spPr>
          <a:xfrm>
            <a:off x="0" y="0"/>
            <a:ext cx="9144000" cy="3064655"/>
          </a:xfrm>
          <a:prstGeom prst="rect">
            <a:avLst/>
          </a:prstGeom>
        </p:spPr>
      </p:pic>
      <p:pic>
        <p:nvPicPr>
          <p:cNvPr id="9" name="Picture 8">
            <a:extLst>
              <a:ext uri="{FF2B5EF4-FFF2-40B4-BE49-F238E27FC236}">
                <a16:creationId xmlns:a16="http://schemas.microsoft.com/office/drawing/2014/main" id="{34CD4768-C9E4-6EFA-4EDE-B656B33BEDFE}"/>
              </a:ext>
            </a:extLst>
          </p:cNvPr>
          <p:cNvPicPr>
            <a:picLocks noChangeAspect="1"/>
          </p:cNvPicPr>
          <p:nvPr/>
        </p:nvPicPr>
        <p:blipFill>
          <a:blip r:embed="rId3"/>
          <a:stretch>
            <a:fillRect/>
          </a:stretch>
        </p:blipFill>
        <p:spPr>
          <a:xfrm>
            <a:off x="0" y="3320440"/>
            <a:ext cx="9144000" cy="31464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7EDEC0-79FE-8548-DF67-E6D8370D9F11}"/>
              </a:ext>
            </a:extLst>
          </p:cNvPr>
          <p:cNvPicPr>
            <a:picLocks noChangeAspect="1"/>
          </p:cNvPicPr>
          <p:nvPr/>
        </p:nvPicPr>
        <p:blipFill>
          <a:blip r:embed="rId2"/>
          <a:stretch>
            <a:fillRect/>
          </a:stretch>
        </p:blipFill>
        <p:spPr>
          <a:xfrm>
            <a:off x="0" y="300937"/>
            <a:ext cx="9144000" cy="3050809"/>
          </a:xfrm>
          <a:prstGeom prst="rect">
            <a:avLst/>
          </a:prstGeom>
        </p:spPr>
      </p:pic>
      <p:pic>
        <p:nvPicPr>
          <p:cNvPr id="7" name="Picture 6">
            <a:extLst>
              <a:ext uri="{FF2B5EF4-FFF2-40B4-BE49-F238E27FC236}">
                <a16:creationId xmlns:a16="http://schemas.microsoft.com/office/drawing/2014/main" id="{C4C7A581-C8BF-DB03-A0FC-32D570BF55AF}"/>
              </a:ext>
            </a:extLst>
          </p:cNvPr>
          <p:cNvPicPr>
            <a:picLocks noChangeAspect="1"/>
          </p:cNvPicPr>
          <p:nvPr/>
        </p:nvPicPr>
        <p:blipFill>
          <a:blip r:embed="rId3"/>
          <a:stretch>
            <a:fillRect/>
          </a:stretch>
        </p:blipFill>
        <p:spPr>
          <a:xfrm>
            <a:off x="0" y="3429000"/>
            <a:ext cx="9144000" cy="3067449"/>
          </a:xfrm>
          <a:prstGeom prst="rect">
            <a:avLst/>
          </a:prstGeom>
        </p:spPr>
      </p:pic>
    </p:spTree>
    <p:extLst>
      <p:ext uri="{BB962C8B-B14F-4D97-AF65-F5344CB8AC3E}">
        <p14:creationId xmlns:p14="http://schemas.microsoft.com/office/powerpoint/2010/main" val="726131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7B38-AE48-9735-BFAC-DF9D5762DC68}"/>
              </a:ext>
            </a:extLst>
          </p:cNvPr>
          <p:cNvSpPr>
            <a:spLocks noGrp="1"/>
          </p:cNvSpPr>
          <p:nvPr>
            <p:ph type="title"/>
          </p:nvPr>
        </p:nvSpPr>
        <p:spPr/>
        <p:txBody>
          <a:bodyPr/>
          <a:lstStyle/>
          <a:p>
            <a:r>
              <a:rPr lang="en-US" dirty="0"/>
              <a:t>HARDWARE</a:t>
            </a:r>
          </a:p>
        </p:txBody>
      </p:sp>
      <p:sp>
        <p:nvSpPr>
          <p:cNvPr id="3" name="Content Placeholder 2">
            <a:extLst>
              <a:ext uri="{FF2B5EF4-FFF2-40B4-BE49-F238E27FC236}">
                <a16:creationId xmlns:a16="http://schemas.microsoft.com/office/drawing/2014/main" id="{6973B2FA-6BAD-B41F-1E5F-3011FFDD7A88}"/>
              </a:ext>
            </a:extLst>
          </p:cNvPr>
          <p:cNvSpPr>
            <a:spLocks noGrp="1"/>
          </p:cNvSpPr>
          <p:nvPr>
            <p:ph idx="1"/>
          </p:nvPr>
        </p:nvSpPr>
        <p:spPr/>
        <p:txBody>
          <a:bodyPr>
            <a:normAutofit/>
          </a:bodyPr>
          <a:lstStyle/>
          <a:p>
            <a:r>
              <a:rPr lang="en-US" sz="2200" dirty="0"/>
              <a:t>Nvidia RTX 3090</a:t>
            </a:r>
          </a:p>
          <a:p>
            <a:r>
              <a:rPr lang="en-US" sz="2200" dirty="0"/>
              <a:t>Intel </a:t>
            </a:r>
            <a:r>
              <a:rPr lang="en-US" sz="2200" i="1" dirty="0"/>
              <a:t>I</a:t>
            </a:r>
            <a:r>
              <a:rPr lang="en-US" sz="2200" dirty="0"/>
              <a:t>9</a:t>
            </a:r>
          </a:p>
          <a:p>
            <a:r>
              <a:rPr lang="en-US" sz="2200" dirty="0"/>
              <a:t>32 GB RAM</a:t>
            </a:r>
          </a:p>
          <a:p>
            <a:endParaRPr lang="en-US" sz="2200" dirty="0"/>
          </a:p>
        </p:txBody>
      </p:sp>
    </p:spTree>
    <p:extLst>
      <p:ext uri="{BB962C8B-B14F-4D97-AF65-F5344CB8AC3E}">
        <p14:creationId xmlns:p14="http://schemas.microsoft.com/office/powerpoint/2010/main" val="1643391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a:xfrm>
            <a:off x="1606045" y="2638045"/>
            <a:ext cx="6269594" cy="3101983"/>
          </a:xfrm>
        </p:spPr>
        <p:txBody>
          <a:bodyPr>
            <a:normAutofit/>
          </a:bodyPr>
          <a:lstStyle/>
          <a:p>
            <a:r>
              <a:rPr sz="2200" dirty="0"/>
              <a:t>Upgrade to 3D U-Net for volumetric context</a:t>
            </a:r>
          </a:p>
          <a:p>
            <a:r>
              <a:rPr sz="2200" dirty="0"/>
              <a:t>Use all modalities as multi-channel input</a:t>
            </a:r>
          </a:p>
          <a:p>
            <a:r>
              <a:rPr sz="2200" dirty="0"/>
              <a:t> Test other pretrained encoders (e.g., </a:t>
            </a:r>
            <a:r>
              <a:rPr sz="2200" dirty="0" err="1"/>
              <a:t>EfficientNet</a:t>
            </a:r>
            <a:r>
              <a:rPr sz="22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 and Resources</a:t>
            </a:r>
          </a:p>
        </p:txBody>
      </p:sp>
      <p:sp>
        <p:nvSpPr>
          <p:cNvPr id="3" name="Content Placeholder 2"/>
          <p:cNvSpPr>
            <a:spLocks noGrp="1"/>
          </p:cNvSpPr>
          <p:nvPr>
            <p:ph idx="1"/>
          </p:nvPr>
        </p:nvSpPr>
        <p:spPr>
          <a:xfrm>
            <a:off x="1606044" y="2638045"/>
            <a:ext cx="7449465" cy="3101983"/>
          </a:xfrm>
        </p:spPr>
        <p:txBody>
          <a:bodyPr>
            <a:noAutofit/>
          </a:bodyPr>
          <a:lstStyle/>
          <a:p>
            <a:r>
              <a:rPr sz="2200" dirty="0"/>
              <a:t>BRATS: </a:t>
            </a:r>
            <a:r>
              <a:rPr lang="en-US" sz="2200" dirty="0">
                <a:hlinkClick r:id="rId2"/>
              </a:rPr>
              <a:t>http://medicaldecathlon.com/</a:t>
            </a:r>
            <a:endParaRPr lang="en-US" sz="2200" dirty="0"/>
          </a:p>
          <a:p>
            <a:r>
              <a:rPr sz="2200" dirty="0"/>
              <a:t>SMP:</a:t>
            </a:r>
            <a:r>
              <a:rPr lang="en-US" sz="2200" dirty="0"/>
              <a:t> </a:t>
            </a:r>
            <a:r>
              <a:rPr sz="2200" dirty="0"/>
              <a:t>https://github.com/qubvel/segmentation_models.pytorch</a:t>
            </a:r>
          </a:p>
          <a:p>
            <a:r>
              <a:rPr sz="2200" dirty="0" err="1"/>
              <a:t>PyTorch</a:t>
            </a:r>
            <a:r>
              <a:rPr sz="2200" dirty="0"/>
              <a:t>: https://pytorch.org</a:t>
            </a:r>
          </a:p>
          <a:p>
            <a:r>
              <a:rPr sz="2200" dirty="0" err="1"/>
              <a:t>Nibabel</a:t>
            </a:r>
            <a:r>
              <a:rPr sz="2200" dirty="0"/>
              <a:t>: https://nipy.org/nibabel</a:t>
            </a:r>
          </a:p>
          <a:p>
            <a:r>
              <a:rPr sz="2200" dirty="0"/>
              <a:t>BRATS Paper: </a:t>
            </a:r>
            <a:r>
              <a:rPr sz="2200" dirty="0">
                <a:hlinkClick r:id="rId3"/>
              </a:rPr>
              <a:t>https://www.nature.com/articles/s41467-022-30695-9</a:t>
            </a:r>
            <a:endParaRPr lang="en-US" sz="2200" dirty="0"/>
          </a:p>
          <a:p>
            <a:r>
              <a:rPr lang="en-US" sz="2200" dirty="0"/>
              <a:t>U-NET: https://arxiv.org/abs/1505.04597</a:t>
            </a:r>
            <a:endParaRPr sz="2200" dirty="0"/>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298</TotalTime>
  <Words>624</Words>
  <Application>Microsoft Office PowerPoint</Application>
  <PresentationFormat>On-screen Show (4:3)</PresentationFormat>
  <Paragraphs>108</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Gill Sans MT</vt:lpstr>
      <vt:lpstr>Parcel</vt:lpstr>
      <vt:lpstr>Brain Tumor Segmentation</vt:lpstr>
      <vt:lpstr>Dataset Overview</vt:lpstr>
      <vt:lpstr>PowerPoint Presentation</vt:lpstr>
      <vt:lpstr>Task Definition</vt:lpstr>
      <vt:lpstr>Preprocessing Steps</vt:lpstr>
      <vt:lpstr>Data Augmentation (Training Only)</vt:lpstr>
      <vt:lpstr>Why 2D U-Net?</vt:lpstr>
      <vt:lpstr>2D U-Net Architecture</vt:lpstr>
      <vt:lpstr>Training Details</vt:lpstr>
      <vt:lpstr>Early Stopping</vt:lpstr>
      <vt:lpstr>Validation Strategy</vt:lpstr>
      <vt:lpstr>Results</vt:lpstr>
      <vt:lpstr>Model Evaluation Metrics</vt:lpstr>
      <vt:lpstr>2d u-nET (No Augmentation)</vt:lpstr>
      <vt:lpstr>2d u-nET pretrained(No Augmentation)</vt:lpstr>
      <vt:lpstr>2d u-nET</vt:lpstr>
      <vt:lpstr>2d u-nET pretrained</vt:lpstr>
      <vt:lpstr>Results</vt:lpstr>
      <vt:lpstr>PowerPoint Presentation</vt:lpstr>
      <vt:lpstr>PowerPoint Presentation</vt:lpstr>
      <vt:lpstr>HARDWARE</vt:lpstr>
      <vt:lpstr>Future Work</vt:lpstr>
      <vt:lpstr>References and Resources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Adrian Valentin Ciu</cp:lastModifiedBy>
  <cp:revision>41</cp:revision>
  <dcterms:created xsi:type="dcterms:W3CDTF">2013-01-27T09:14:16Z</dcterms:created>
  <dcterms:modified xsi:type="dcterms:W3CDTF">2025-06-02T06:56:19Z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2025-06-01T16:13:48Z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7fc47926-75c8-42f9-972e-147f9761f9fd</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ies>
</file>